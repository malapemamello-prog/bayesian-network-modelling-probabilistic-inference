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5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8" y="1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A43"/>
                </a:solidFill>
                <a:latin typeface="Arial"/>
              </a:defRPr>
            </a:pPr>
            <a:r>
              <a:rPr lang="en-ZA" sz="1300" b="0" i="0" u="none" strike="noStrike">
                <a:solidFill>
                  <a:srgbClr val="0F2A43"/>
                </a:solidFill>
                <a:latin typeface="Arial"/>
              </a:rPr>
              <a:t>P(disease=1 | ca) — bnlearn CPT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P(disease=1)</c:v>
                </c:pt>
              </c:strCache>
            </c:strRef>
          </c:tx>
          <c:spPr>
            <a:ln w="38100" cap="flat">
              <a:solidFill>
                <a:srgbClr val="2A9D8F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ca=0</c:v>
                </c:pt>
                <c:pt idx="1">
                  <c:v>ca=1</c:v>
                </c:pt>
                <c:pt idx="2">
                  <c:v>ca=2</c:v>
                </c:pt>
                <c:pt idx="3">
                  <c:v>ca=3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0.41699999999999998</c:v>
                </c:pt>
                <c:pt idx="1">
                  <c:v>0.53100000000000003</c:v>
                </c:pt>
                <c:pt idx="2">
                  <c:v>0.53</c:v>
                </c:pt>
                <c:pt idx="3">
                  <c:v>0.51900000000000002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3EF-4D1D-AD24-E7B1F9471CA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"/>
          <c:min val="0.3"/>
        </c:scaling>
        <c:delete val="0"/>
        <c:axPos val="l"/>
        <c:majorGridlines>
          <c:spPr>
            <a:ln w="6350" cap="flat">
              <a:solidFill>
                <a:srgbClr val="E5E9EE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1887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drawn directly from the Executive Report cover page. State the research question: how do an expert-designed and a data-driven Bayesian network differ in structure, inference, predictive performance and interpretability for binary heart-disease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1 and Section 3.1/3.3 of the report. Stress the ordering: split first, then impute/discretise using training statistics only — this is what prevents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3.2 of the report. This heatmap is explicitly framed as descriptive, feeding into but not pre-empting the structure-learning stage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4.1. Note the figure title in the notebook is the generic bnlearn plotting label but this is the manually specified expert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4.2. Reinforce that the learned network is evaluated primarily as a probabilistic/predictive structure, not a causal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3 from the report, Section 4.3. The reversed age-heart-rate edge is a good talking point for why observational structure learning should not be read causally.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4, Section 5.1. Direct-parent marginal CPDs (Table 5) can be mentioned verbally: age_cat, chol_cat roughly uniform across Low/Medium/High (~0.33 each); gender close to even (0.465/0.535); trestbp_cat conditioned on age_cat shows small shifts by age band.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5.3. Good bridge into the inference section: the single-parent CPT is easy to estimate but the network still uses cp and thal as children during inference.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6.1 and 6.2. The largest shift for both networks occurs from ca=0 to ca=1 (expert +0.085, learned +0.109); further vessels add little.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6.3. This directly answers the assignment's reverse-inference requirement: posterior of explanatory variables given heartdisease_bin =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7 and Figures 7/8 of the report. Both networks clearly beat the no-skill baseline; the expert DAG leads on every single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mirrors the report's Executive Summary section verbatim in substance. Emphasise the closing caveat: results are evidence for this dataset and split, not a clinically validated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Sections 8, 9 and 10 of the report. Close by restating the research question and answering it directly: the expert DAG offers the more favourable combination of predictive performance and interpretability in this dataset, with the learned DAG serving as a valuable empirical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914400"/>
            <a:ext cx="8388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Network Modelling and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Probabilistic Inference for Heart Disease Prediction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Expert-designed DAG vs data-driven DAG (Hill Climbing + BIC)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EDAB 6808 Assignment 3: Bayesian Networks and Probabilistic Inference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Reatile </a:t>
            </a:r>
            <a:r>
              <a:rPr lang="en-US" sz="16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Seekoei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(2021109463) 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Mamello Malape (</a:t>
            </a:r>
            <a:r>
              <a:rPr lang="en-US" sz="16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2023232750) </a:t>
            </a:r>
          </a:p>
          <a:p>
            <a:r>
              <a:rPr lang="en-US" sz="16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the Free State, BCom </a:t>
            </a:r>
            <a:r>
              <a:rPr lang="en-US" sz="1600" dirty="0" err="1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and pre-processing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4" name="Image 0" descr="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97280"/>
            <a:ext cx="3657600" cy="2606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" y="37947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 no disease (54.1%) vs 139 disease present (45.9%) — reasonably balanced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0" y="1005840"/>
            <a:ext cx="411480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470916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Preparation pipeline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146304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missing values converted to true NaN: ca (4), thal (2) — imputed with training-set mode only (ca=0, thal=3)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242 train / 61 test before imputation and discretisation, so no test information leaks into preprocessing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continuous variables (age, trestbps, chol, thalach, oldpeak) cut into Low/Medium/High using training-derived quantiles, applied unchanged to test set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accuracy, recall, specificity, ROC-AUC and PR-AUC retained alongside accuracy for a fuller evaluation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analysis: what the raw correlations show</a:t>
            </a:r>
            <a:endParaRPr lang="en-US" sz="2600" dirty="0"/>
          </a:p>
        </p:txBody>
      </p:sp>
      <p:pic>
        <p:nvPicPr>
          <p:cNvPr id="3" name="Image 0" descr="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0"/>
            <a:ext cx="4572000" cy="35204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20640" y="1005840"/>
            <a:ext cx="35661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25780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Descriptive, not causal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257800" y="146304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pairwise links with the target: oldpeak (r ≈ 0.42) and thalach (r ≈ −0.42)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 shows almost no linear relationship (r ≈ 0.09)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and thalach are moderately correlated (r ≈ −0.39), consistent with heart rate declining with age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shown only for numeric/ordered measurements; nominal codes (cp, thal, restecg) are not treated as continuous here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Expert-designed DAG: 16 edges, 3 reasoning pathways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6263640" y="914400"/>
            <a:ext cx="2468880" cy="388620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400800" y="1005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pathways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1371600"/>
            <a:ext cx="2194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Risk-profile: age, gender, BP, cholesterol → target (only 4 parents, 54 configurations)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Diagnostic-evidence: cp, restecg, exang, ca, thal, slope, thalach as downstream findings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Exercise-response: age, exang, slope, thalach, oldpeak linked through additional edges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1605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 encode the chosen factorisation, not established physiological causality.</a:t>
            </a:r>
            <a:endParaRPr lang="en-US" sz="1150" dirty="0"/>
          </a:p>
        </p:txBody>
      </p:sp>
      <p:pic>
        <p:nvPicPr>
          <p:cNvPr id="8" name="Image 0" descr="/tmp/img/cell26_3.png">
            <a:extLst>
              <a:ext uri="{FF2B5EF4-FFF2-40B4-BE49-F238E27FC236}">
                <a16:creationId xmlns:a16="http://schemas.microsoft.com/office/drawing/2014/main" id="{A7259923-C0D7-48E6-825E-144930EAF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68680"/>
            <a:ext cx="5760720" cy="33863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DAG: Hill Climbing + BIC, 11 edges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6263640" y="914400"/>
            <a:ext cx="2468880" cy="388620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400800" y="1005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HC + BIC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1371600"/>
            <a:ext cx="2194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 Climbing: local search over edge add/delete/reverse moves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BIC: rewards fit, penalises unnecessary complexity — sparse graph for 242 rows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has a single parent, ca, and two children, cp and thal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 → gender is an empirical dependency, not a plausible causal statement</a:t>
            </a:r>
            <a:endParaRPr lang="en-US" sz="1100" dirty="0"/>
          </a:p>
        </p:txBody>
      </p:sp>
      <p:pic>
        <p:nvPicPr>
          <p:cNvPr id="7" name="Image 0" descr="/tmp/img/cell29_4.png">
            <a:extLst>
              <a:ext uri="{FF2B5EF4-FFF2-40B4-BE49-F238E27FC236}">
                <a16:creationId xmlns:a16="http://schemas.microsoft.com/office/drawing/2014/main" id="{423084E0-07C2-45FA-9871-952313A94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68680"/>
            <a:ext cx="5760720" cy="3764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comparison: partial agreement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06070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72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directed edges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14600" y="100584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606040" y="106070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1572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adjacencies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63440" y="106070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9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1572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reversed relationships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29400" y="100584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720840" y="106070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/ 11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1572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/ learned edges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73609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132988"/>
              </p:ext>
            </p:extLst>
          </p:nvPr>
        </p:nvGraphicFramePr>
        <p:xfrm>
          <a:off x="640080" y="2423160"/>
          <a:ext cx="6995160" cy="20116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directed edges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disease→cp; disease→thal; slope→oldpeak_cat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Reversed relationships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age_cat↔thalach_cat; disease↔ca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Learned-only edges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age_cat→fbs; fbs→trestbp_cat; cp→exang; thal→gender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 learning: expert target CPT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20040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P(disease=1)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configuration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High, chol High, male, BP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configuration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Low, chol Low, female, BP 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 swing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 → male, others fixed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0.402 → 0.622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Age-category swing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→ Medium, others fixed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0.425 → 0.613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Cholesterol swing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→ High, others fixed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0.436 → 0.622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Resting-BP swing (non-monotonic)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→ Low in one configuration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0.436 → 0.622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BDeu smoothing was used (not raw maximum likelihood) because 242 training rows sparsely populate the 54 parent configurations. The BP pattern is not monotonic and is reported as a local CPT result, not a causal blood-pressure effect.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 learning: learned target CPT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4" name="Chart 0"/>
          <p:cNvGraphicFramePr/>
          <p:nvPr/>
        </p:nvGraphicFramePr>
        <p:xfrm>
          <a:off x="594360" y="1188720"/>
          <a:ext cx="36576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0" y="105156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4709160" y="141732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is the only direct parent of the target in the learned DAG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P(disease | ca=0) = 0.417, rising to 0.531 at ca=1 — the biggest single jump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ca=2 (0.530) and ca=3 (0.519) add almost nothing further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 simpler CPT than the expert network's 54-configuration table, though inference can still draw on the broader learned graph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Inference: riskiest profiles and one-variable sensitivity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3931920" cy="230428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DAG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bnlearn DAG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posterior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posterior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Posterior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abs. posterior diff.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 rank correlation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118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Highest-ranked profiles in both networks repeatedly include gender=1, cp=4, thal=7, ca=1.</a:t>
            </a:r>
            <a:endParaRPr lang="en-US" sz="115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E4D3AEA-C2AA-4148-A714-F08F6A1745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24" y="719533"/>
            <a:ext cx="4373880" cy="4012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Reverse inference: given disease = 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73609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6995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cp: type 4 (asymptomatic) has the largest posterior among chest-pain states in both networks, ≈0.340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thal: reversible defect (thal=7) has the largest posterior among thal states in both networks, ≈0.394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exang: expert network places slightly more mass on exang=1 (0.507); learned network places slightly more on exang=0 (0.530)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ca: state 0 has the largest single posterior (≈0.272) but probability stays spread across all four states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results show which explanatory states become more probable once disease is fixed as present — they do not imply those states independently cause disease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evaluation: held-out test set (n=61)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7772400" cy="1536192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Bal. Acc.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Majority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DAG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bnlearn DAG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Image 0" descr="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06040"/>
            <a:ext cx="2331720" cy="2011680"/>
          </a:xfrm>
          <a:prstGeom prst="rect">
            <a:avLst/>
          </a:prstGeom>
        </p:spPr>
      </p:pic>
      <p:pic>
        <p:nvPicPr>
          <p:cNvPr id="5" name="Image 1" descr="p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2606040"/>
            <a:ext cx="2331720" cy="2011680"/>
          </a:xfrm>
          <a:prstGeom prst="rect">
            <a:avLst/>
          </a:prstGeom>
        </p:spPr>
      </p:pic>
      <p:pic>
        <p:nvPicPr>
          <p:cNvPr id="6" name="Image 2" descr="c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3017520"/>
            <a:ext cx="3291840" cy="1005840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5394960" y="4069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Expert: 30 TN, 25 TP, 3 FP, 3 FN. bnlearn: 29 TN, 23 TP, 4 FP, 5 FN. Majority: 33 TN, 0 TP, misses all 28 positives.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06070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303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727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patients, 13 predictors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331720" y="100584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423160" y="106070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242 / 61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2423160" y="15727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0" y="100584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297680" y="106070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5,184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15727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profiles scored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00584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172200" y="106070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0.056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5727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posterior gap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73609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0080" y="2286000"/>
            <a:ext cx="7040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discrete Bayesian networks built on the Cleveland dataset: an expert-designed DAG and a data-driven DAG learned with Hill Climbing + BIC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DAG: 16 edges, 4 target parents. Learned DAG: 11 edges, 1 target parent (ca)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61-patient held-out set, expert DAG reached F1 = 0.893, ROC-AUC = 0.961, vs 0.836 and 0.915 for the learned DAG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networks agree closely on which evidence is riskiest (cp=4, thal=7, ca=1), Spearman rank correlation 0.766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retain the expert DAG as the preferred model for this dataset and split, but treat edges as probabilistic dependencies, not proven causal effects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Conclusion, limitations and recommendations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A5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DAG preferred: strongest held-out metrics (F1 0.893, AUC 0.961) plus explicit, organised justification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proof the expert structure is causal or clinically deployable — evidence for this dataset and split only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960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D3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325880"/>
            <a:ext cx="2651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 (303) and test set (61); results are split-sensitive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3-state discretisation sacrifices within-bin detail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mode imputation for ca/thal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HC+BIC can settle on a locally preferred, score-equivalent structure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not formally assessed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960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325880"/>
            <a:ext cx="2651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/ bootstrap to quantify uncertainty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posterior calibration alongside AUC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review of expert edges before causal use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alternative discretisation and BDeu priors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further transparent baselines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 before any operational use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1676</Words>
  <Application>Microsoft Office PowerPoint</Application>
  <PresentationFormat>On-screen Show (16:9)</PresentationFormat>
  <Paragraphs>200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EDAB6808 Assignment 3 — Report Slides</dc:title>
  <dc:subject>PptxGenJS Presentation</dc:subject>
  <dc:creator>PptxGenJS</dc:creator>
  <cp:lastModifiedBy>Mamello Malape</cp:lastModifiedBy>
  <cp:revision>3</cp:revision>
  <dcterms:created xsi:type="dcterms:W3CDTF">2026-09-30T09:49:46Z</dcterms:created>
  <dcterms:modified xsi:type="dcterms:W3CDTF">2026-09-30T10:03:45Z</dcterms:modified>
</cp:coreProperties>
</file>